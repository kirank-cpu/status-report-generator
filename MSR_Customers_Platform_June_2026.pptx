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Segoe UI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Segoe UI"/>
              </a:rPr>
              <a:t>OVERALL EXECUTION STATUS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OVERALL EXECUTION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bubble3D val="0"/>
            <c:spPr>
              <a:solidFill>
                <a:srgbClr val="ED7D31"/>
              </a:solidFill>
              <a:effectLst/>
            </c:spPr>
          </c:dPt>
          <c:dPt>
            <c:idx val="2"/>
            <c:bubble3D val="0"/>
            <c:spPr>
              <a:solidFill>
                <a:srgbClr val="A5A5A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Pass</c:v>
                </c:pt>
                <c:pt idx="1">
                  <c:v>Fail</c:v>
                </c:pt>
                <c:pt idx="2">
                  <c:v>Blocked/Hold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143</c:v>
                </c:pt>
                <c:pt idx="1">
                  <c:v>18</c:v>
                </c:pt>
                <c:pt idx="2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Segoe UI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Segoe UI"/>
              </a:rPr>
              <a:t>OVERALL DEFECTS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OVERALL DEFECTS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bubble3D val="0"/>
            <c:spPr>
              <a:solidFill>
                <a:srgbClr val="ED7D31"/>
              </a:solidFill>
              <a:effectLst/>
            </c:spPr>
          </c:dPt>
          <c:dPt>
            <c:idx val="2"/>
            <c:bubble3D val="0"/>
            <c:spPr>
              <a:solidFill>
                <a:srgbClr val="A5A5A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Open</c:v>
                </c:pt>
                <c:pt idx="1">
                  <c:v>Closed</c:v>
                </c:pt>
                <c:pt idx="2">
                  <c:v>Blocked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</c:v>
                </c:pt>
                <c:pt idx="1">
                  <c:v>16</c:v>
                </c:pt>
                <c:pt idx="2">
                  <c:v>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Segoe UI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Segoe UI"/>
              </a:rPr>
              <a:t>MANUAL EXECUTION STATUS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MANUAL EXECUTION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bubble3D val="0"/>
            <c:spPr>
              <a:solidFill>
                <a:srgbClr val="ED7D31"/>
              </a:solidFill>
              <a:effectLst/>
            </c:spPr>
          </c:dPt>
          <c:dPt>
            <c:idx val="2"/>
            <c:bubble3D val="0"/>
            <c:spPr>
              <a:solidFill>
                <a:srgbClr val="A5A5A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Pass</c:v>
                </c:pt>
                <c:pt idx="1">
                  <c:v>Fail</c:v>
                </c:pt>
                <c:pt idx="2">
                  <c:v>Blocked/Hold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128</c:v>
                </c:pt>
                <c:pt idx="1">
                  <c:v>16</c:v>
                </c:pt>
                <c:pt idx="2">
                  <c:v>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Segoe UI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Segoe UI"/>
              </a:rPr>
              <a:t>DEFECTS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DEFECTS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bubble3D val="0"/>
            <c:spPr>
              <a:solidFill>
                <a:srgbClr val="ED7D31"/>
              </a:solidFill>
              <a:effectLst/>
            </c:spPr>
          </c:dPt>
          <c:dPt>
            <c:idx val="2"/>
            <c:bubble3D val="0"/>
            <c:spPr>
              <a:solidFill>
                <a:srgbClr val="A5A5A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Open</c:v>
                </c:pt>
                <c:pt idx="1">
                  <c:v>Closed</c:v>
                </c:pt>
                <c:pt idx="2">
                  <c:v>Blocked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</c:v>
                </c:pt>
                <c:pt idx="1">
                  <c:v>16</c:v>
                </c:pt>
                <c:pt idx="2">
                  <c:v>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Segoe UI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Segoe UI"/>
              </a:rPr>
              <a:t>MANUAL EXECUTION STATUS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MANUAL EXECUTION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bubble3D val="0"/>
            <c:spPr>
              <a:solidFill>
                <a:srgbClr val="ED7D31"/>
              </a:solidFill>
              <a:effectLst/>
            </c:spPr>
          </c:dPt>
          <c:dPt>
            <c:idx val="2"/>
            <c:bubble3D val="0"/>
            <c:spPr>
              <a:solidFill>
                <a:srgbClr val="A5A5A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Pass</c:v>
                </c:pt>
                <c:pt idx="1">
                  <c:v>Fail</c:v>
                </c:pt>
                <c:pt idx="2">
                  <c:v>Blocked/Hold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15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Segoe UI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Segoe UI"/>
              </a:rPr>
              <a:t>DEFECTS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DEFECTS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bubble3D val="0"/>
            <c:spPr>
              <a:solidFill>
                <a:srgbClr val="ED7D31"/>
              </a:solidFill>
              <a:effectLst/>
            </c:spPr>
          </c:dPt>
          <c:dPt>
            <c:idx val="2"/>
            <c:bubble3D val="0"/>
            <c:spPr>
              <a:solidFill>
                <a:srgbClr val="A5A5A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A1A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Open</c:v>
                </c:pt>
                <c:pt idx="1">
                  <c:v>Closed</c:v>
                </c:pt>
                <c:pt idx="2">
                  <c:v>Blocked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SR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84264"/>
            <a:ext cx="12192000" cy="173736"/>
          </a:xfrm>
          <a:prstGeom prst="rect">
            <a:avLst/>
          </a:prstGeom>
          <a:solidFill>
            <a:srgbClr val="EC008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6382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Everforth Quinnox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C00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Everforth Quinnox   |   Shawbrook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 Platform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7490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Status Report — June 2026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1554480" cy="1554480"/>
          </a:xfrm>
          <a:prstGeom prst="ellipse">
            <a:avLst/>
          </a:prstGeom>
          <a:solidFill>
            <a:srgbClr val="EC00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1874520"/>
            <a:ext cx="731520" cy="731520"/>
          </a:xfrm>
          <a:prstGeom prst="ellipse">
            <a:avLst/>
          </a:prstGeom>
          <a:solidFill>
            <a:srgbClr val="EC00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1463040"/>
            <a:ext cx="1554480" cy="1554480"/>
          </a:xfrm>
          <a:prstGeom prst="rect">
            <a:avLst/>
          </a:prstGeom>
          <a:solidFill>
            <a:srgbClr val="EC00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0" y="3291840"/>
            <a:ext cx="1554480" cy="1554480"/>
          </a:xfrm>
          <a:prstGeom prst="ellipse">
            <a:avLst/>
          </a:prstGeom>
          <a:solidFill>
            <a:srgbClr val="EC00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3291840"/>
            <a:ext cx="502920" cy="1554480"/>
          </a:xfrm>
          <a:prstGeom prst="roundRect">
            <a:avLst>
              <a:gd name="adj" fmla="val 49091"/>
            </a:avLst>
          </a:prstGeom>
          <a:solidFill>
            <a:srgbClr val="EC00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0" y="3566160"/>
            <a:ext cx="502920" cy="1280160"/>
          </a:xfrm>
          <a:prstGeom prst="roundRect">
            <a:avLst>
              <a:gd name="adj" fmla="val 49091"/>
            </a:avLst>
          </a:prstGeom>
          <a:solidFill>
            <a:srgbClr val="EC008C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Summary — June 2026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113842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960120"/>
                <a:gridCol w="960120"/>
                <a:gridCol w="822960"/>
                <a:gridCol w="822960"/>
                <a:gridCol w="1188720"/>
                <a:gridCol w="914400"/>
                <a:gridCol w="1280160"/>
                <a:gridCol w="13258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Squad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Designed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Executed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Fail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Blocked/Hold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 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 Defects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 Defects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 Banking- Servicing Hub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89%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Payments Squad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83%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88%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914400" y="2697480"/>
          <a:ext cx="49377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00800" y="2697480"/>
          <a:ext cx="49377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Banking- Servicing Hub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 rot="16200000">
            <a:off x="-347472" y="1545336"/>
            <a:ext cx="1645920" cy="384048"/>
          </a:xfrm>
          <a:prstGeom prst="rect">
            <a:avLst/>
          </a:prstGeom>
          <a:solidFill>
            <a:srgbClr val="F06FA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914400"/>
          <a:ext cx="6400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68680"/>
                <a:gridCol w="868680"/>
                <a:gridCol w="777240"/>
                <a:gridCol w="777240"/>
                <a:gridCol w="8229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Features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Designed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Executed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Fail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Blocked/Hold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 Adjustment / Cancel arrears interest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Unsolicited Payments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Redemption Statement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7406640" y="914400"/>
          <a:ext cx="43891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 rot="16200000">
            <a:off x="-256032" y="4334256"/>
            <a:ext cx="1463040" cy="384048"/>
          </a:xfrm>
          <a:prstGeom prst="rect">
            <a:avLst/>
          </a:prstGeom>
          <a:solidFill>
            <a:srgbClr val="F06FA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DEFECTS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703320"/>
          <a:ext cx="6400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1188720"/>
                <a:gridCol w="118872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Blocked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7406640" y="3703320"/>
          <a:ext cx="43891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3"/>
          <p:cNvSpPr/>
          <p:nvPr/>
        </p:nvSpPr>
        <p:spPr>
          <a:xfrm>
            <a:off x="685800" y="5532120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defects raised in JIRA- 0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observations raised in JIRA comments- 16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Banking- Servicing Hub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Deliverables from current month: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Regression done on redemption statement flow.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Performed E2E on Unsolicited payments with other squads for Prod release.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Performed E2E on Redemption statement flow with other squads for Prod release.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Cross-squad testing done on Cancel arrears balance in TEST environment.</a:t>
            </a:r>
            <a:endParaRPr lang="en-US" sz="1600" dirty="0"/>
          </a:p>
          <a:p>
            <a:pPr indent="0" marL="0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for next month: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re-payment date functionality is planned for next release. Need to do E2E and Regression.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Adding in-sprint automation scripts - Redemption and Unsolicited payments.</a:t>
            </a:r>
            <a:endParaRPr lang="en-US" sz="1600" dirty="0"/>
          </a:p>
          <a:p>
            <a:pPr indent="0" marL="0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Dependency/Challenges: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Payments Squad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 rot="16200000">
            <a:off x="-256032" y="1216152"/>
            <a:ext cx="1463040" cy="384048"/>
          </a:xfrm>
          <a:prstGeom prst="rect">
            <a:avLst/>
          </a:prstGeom>
          <a:solidFill>
            <a:srgbClr val="F06FA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914400"/>
          <a:ext cx="6400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68680"/>
                <a:gridCol w="868680"/>
                <a:gridCol w="777240"/>
                <a:gridCol w="777240"/>
                <a:gridCol w="8229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Features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Designed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Executed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Fail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Blocked/Hold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Direct Debit Setup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7406640" y="914400"/>
          <a:ext cx="43891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 rot="16200000">
            <a:off x="-256032" y="4334256"/>
            <a:ext cx="1463040" cy="384048"/>
          </a:xfrm>
          <a:prstGeom prst="rect">
            <a:avLst/>
          </a:prstGeom>
          <a:solidFill>
            <a:srgbClr val="F06FA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DEFECTS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703320"/>
          <a:ext cx="6400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1188720"/>
                <a:gridCol w="118872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Blocked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6F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7406640" y="3703320"/>
          <a:ext cx="43891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Payments Squad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Deliverables from current month: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</a:t>
            </a:r>
            <a:endParaRPr lang="en-US" sz="1600" dirty="0"/>
          </a:p>
          <a:p>
            <a:pPr indent="0" marL="0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for next month: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</a:t>
            </a:r>
            <a:endParaRPr lang="en-US" sz="1600" dirty="0"/>
          </a:p>
          <a:p>
            <a:pPr indent="0" marL="0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Dependency/Challenges: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 Progress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0" y="25603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EC00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Payments Squad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 upgraded to Playwright 1.50</a:t>
            </a:r>
            <a:endParaRPr lang="en-US" sz="1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120 scripts migrated</a:t>
            </a:r>
            <a:endParaRPr lang="en-US" sz="14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Nightly run green for 2 weeks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Next: API test pack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9A9A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00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9319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Everforth Quinnox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Customers Platform - June 2026</dc:title>
  <dc:subject>PptxGenJS Presentation</dc:subject>
  <dc:creator>Everforth Quinnox</dc:creator>
  <cp:lastModifiedBy>Everforth Quinnox</cp:lastModifiedBy>
  <cp:revision>1</cp:revision>
  <dcterms:created xsi:type="dcterms:W3CDTF">2026-06-12T14:35:54Z</dcterms:created>
  <dcterms:modified xsi:type="dcterms:W3CDTF">2026-06-12T14:35:54Z</dcterms:modified>
</cp:coreProperties>
</file>